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vibe-pio in one line: a formally verified PIO engine whose endgame is program synthesis. Built with open tools only, C0-C16 complete in four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PIO explainer for the room. End on the two-sided thesis: verification and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The swap point is confined to pio_instr_mem; surrounding RTL untouched. Cover/BMC only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culture slide. Traceability is enforced by tooling, not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mirrors the hardware: shared imem, 4 named SM instances (no generate loop, for readable solver traces), registered flag paths for k-induction tractability.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clean phases: verify the engine, then bolt the optimizer/synthesizer track on top. Kanban dependency order C11∥C12 → C13 → C14; C15 after C11; C16 after C12+C15.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from fast to deep. Nothing is 'believed' — everything is a command. 238 includes immediate assertions in RTL and formal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 stories build credibility. The manchester story: BMC counterexample -&gt; hypothesis (sync margin) -&gt; falsified by divider-invariance -&gt; real cause was the TB's wrap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Dependency order from the kanban grilling: C11 ∥ C12 → C13 → C14; C15 after C11; C16 after C12+C15.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C16 landed both targets: square-wave smoke and UART-TX-byte. Witness pipeline = SPEC-16-12; the UNSAT red case is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scoping slide. Every limit is documented in DESIGN.md/IDEAS.md with the decision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from IDEAS.md. The game has survived two grilling rounds - it is the closest to promotion. C14's Pareto front is the natural scoring metric when it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arc: verify -&gt; optimize -&gt; synthesize. The ask: pick the next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3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· 2026-08-26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4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3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cycle-accurate, formally verified model of the RP2350 PIO engine — </a:t>
            </a:r>
            <a:pPr indent="0" marL="0">
              <a:buNone/>
            </a:pPr>
            <a:r>
              <a:rPr lang="en-US" sz="2000" b="1" dirty="0">
                <a:solidFill>
                  <a:srgbClr val="F4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solver that writes its programs.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" name="Shape 4"/>
          <p:cNvSpPr/>
          <p:nvPr/>
        </p:nvSpPr>
        <p:spPr>
          <a:xfrm>
            <a:off x="1020928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7" name="Shape 5"/>
          <p:cNvSpPr/>
          <p:nvPr/>
        </p:nvSpPr>
        <p:spPr>
          <a:xfrm>
            <a:off x="1010869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8" name="Shape 6"/>
          <p:cNvSpPr/>
          <p:nvPr/>
        </p:nvSpPr>
        <p:spPr>
          <a:xfrm>
            <a:off x="1584655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9" name="Shape 7"/>
          <p:cNvSpPr/>
          <p:nvPr/>
        </p:nvSpPr>
        <p:spPr>
          <a:xfrm>
            <a:off x="1574597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383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1" name="Shape 9"/>
          <p:cNvSpPr/>
          <p:nvPr/>
        </p:nvSpPr>
        <p:spPr>
          <a:xfrm>
            <a:off x="2712110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02052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5838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4" name="Shape 12"/>
          <p:cNvSpPr/>
          <p:nvPr/>
        </p:nvSpPr>
        <p:spPr>
          <a:xfrm>
            <a:off x="3839566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29507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6" name="Shape 14"/>
          <p:cNvSpPr/>
          <p:nvPr/>
        </p:nvSpPr>
        <p:spPr>
          <a:xfrm>
            <a:off x="4403293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93235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967021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6962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0" name="Shape 18"/>
          <p:cNvSpPr/>
          <p:nvPr/>
        </p:nvSpPr>
        <p:spPr>
          <a:xfrm>
            <a:off x="5530748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0690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4418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8204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1931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1873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5659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8" name="Shape 26"/>
          <p:cNvSpPr/>
          <p:nvPr/>
        </p:nvSpPr>
        <p:spPr>
          <a:xfrm>
            <a:off x="8349386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0" name="Shape 28"/>
          <p:cNvSpPr/>
          <p:nvPr/>
        </p:nvSpPr>
        <p:spPr>
          <a:xfrm>
            <a:off x="8913114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1" name="Shape 29"/>
          <p:cNvSpPr/>
          <p:nvPr/>
        </p:nvSpPr>
        <p:spPr>
          <a:xfrm>
            <a:off x="8903056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6842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3" name="Shape 31"/>
          <p:cNvSpPr/>
          <p:nvPr/>
        </p:nvSpPr>
        <p:spPr>
          <a:xfrm>
            <a:off x="9466783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40569" y="4278478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30511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4297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94238" y="3703320"/>
            <a:ext cx="20117" cy="579730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68024" y="3703320"/>
            <a:ext cx="568300" cy="202082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0928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10869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84655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74597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148383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712110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702052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275838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839566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829507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03293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393235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967021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56962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530748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520690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94476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658204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48145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21931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85659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75600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49386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39328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13114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03056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76842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466783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040569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030511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604297" y="4709160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168024" y="5081321"/>
            <a:ext cx="568300" cy="130759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1157966" y="4709160"/>
            <a:ext cx="20117" cy="376733"/>
          </a:xfrm>
          <a:prstGeom prst="rect">
            <a:avLst/>
          </a:prstGeom>
          <a:solidFill>
            <a:srgbClr val="A62E5C">
              <a:alpha val="7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5806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3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· yosys · sby + z3 / boolector / yices · uv + ruff + ty + pytest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074152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C0–C16 complete · 40 commits · 4 days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PIO: programmable I/O on a dollar-class microcontroller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instructions, four state machines.</a:t>
            </a:r>
            <a:pPr indent="0" marL="0">
              <a:buNone/>
            </a:pPr>
            <a:r>
              <a:rPr lang="en-US" sz="14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JMP · WAIT · IN · OUT · PUSH · PULL · MOV · IRQ · SET. Each SM is a tiny cycle-tight interpreter with its own shifters, FIFOs and fractional clock divider.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598932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“everything else” peripheral.</a:t>
            </a:r>
            <a:pPr indent="0" marL="0">
              <a:buNone/>
            </a:pPr>
            <a:r>
              <a:rPr lang="en-US" sz="14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 UART / SPI / I²C blocks cover the standards; PIO covers WS2812, Manchester, proprietary links — anything expressible as pin wiggles at cycle granularity.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598932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77056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are hand-cycle-budgeted.</a:t>
            </a:r>
            <a:pPr indent="0" marL="0">
              <a:buNone/>
            </a:pPr>
            <a:r>
              <a:rPr lang="en-US" sz="14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.pio assembly where delay and side-set cycles are counted by hand against the datasheet. Correctness discipline is entirely on you.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508760" cy="1828800"/>
          </a:xfrm>
          <a:prstGeom prst="roundRect">
            <a:avLst>
              <a:gd name="adj" fmla="val 3636"/>
            </a:avLst>
          </a:prstGeom>
          <a:solidFill>
            <a:srgbClr val="F6E7E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67728" y="1920240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62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975104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32×16 imem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86016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278624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571232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27980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94776" y="1463040"/>
            <a:ext cx="1508760" cy="1828800"/>
          </a:xfrm>
          <a:prstGeom prst="roundRect">
            <a:avLst>
              <a:gd name="adj" fmla="val 3636"/>
            </a:avLst>
          </a:prstGeom>
          <a:solidFill>
            <a:srgbClr val="F6E7EE"/>
          </a:solidFill>
          <a:ln/>
        </p:spPr>
      </p:sp>
      <p:sp>
        <p:nvSpPr>
          <p:cNvPr id="29" name="Text 27"/>
          <p:cNvSpPr/>
          <p:nvPr/>
        </p:nvSpPr>
        <p:spPr>
          <a:xfrm>
            <a:off x="8494776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PIO1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695944" y="1920240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62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1975104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32×16 imem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714232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9006840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9299448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9592056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36" name="Text 34"/>
          <p:cNvSpPr/>
          <p:nvPr/>
        </p:nvSpPr>
        <p:spPr>
          <a:xfrm>
            <a:off x="8494776" y="27980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22992" y="1463040"/>
            <a:ext cx="1508760" cy="1828800"/>
          </a:xfrm>
          <a:prstGeom prst="roundRect">
            <a:avLst>
              <a:gd name="adj" fmla="val 3636"/>
            </a:avLst>
          </a:prstGeom>
          <a:solidFill>
            <a:srgbClr val="F6E7EE"/>
          </a:solidFill>
          <a:ln/>
        </p:spPr>
      </p:sp>
      <p:sp>
        <p:nvSpPr>
          <p:cNvPr id="38" name="Text 36"/>
          <p:cNvSpPr/>
          <p:nvPr/>
        </p:nvSpPr>
        <p:spPr>
          <a:xfrm>
            <a:off x="10222992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PIO2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0424160" y="1920240"/>
            <a:ext cx="11064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62E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24160" y="1975104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32×16 imem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442448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735056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27664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320272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62E5C"/>
          </a:solidFill>
          <a:ln/>
        </p:spPr>
      </p:sp>
      <p:sp>
        <p:nvSpPr>
          <p:cNvPr id="45" name="Text 43"/>
          <p:cNvSpPr/>
          <p:nvPr/>
        </p:nvSpPr>
        <p:spPr>
          <a:xfrm>
            <a:off x="10222992" y="27980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SMs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15984" y="3337560"/>
            <a:ext cx="0" cy="338328"/>
          </a:xfrm>
          <a:prstGeom prst="line">
            <a:avLst/>
          </a:prstGeom>
          <a:noFill/>
          <a:ln w="1587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680960" y="3730752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E66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GPIO pads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766560" y="4206240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RP2350: 3 PIO blocks [SPEC-1-1] · one shared imem per block [SPEC-1-2] · 32-pin windows [SPEC-1-4]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55046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hand discipline is what this project attacks from both ends: verify the engine — then synthesize the programs.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memory is just state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instruction memory symbolic</a:t>
            </a:r>
            <a:pPr indent="0" marL="0">
              <a:buNone/>
            </a:pPr>
            <a:r>
              <a:rPr lang="en-US" sz="19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flat (* anyconst *) vector behind the SYM parameter. Assert the waveform you want on the pins, and let the SMT solver search the program space. The witness it returns </a:t>
            </a:r>
            <a:pPr indent="0" marL="0">
              <a:buNone/>
            </a:pPr>
            <a:r>
              <a:rPr lang="en-US" sz="19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program, by construction.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6364" y="297180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6E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spec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0956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C15 monitor over gpio_out: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must decode as a UART frame”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0956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5360" y="4500677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302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9764" y="4500677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4168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34110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528572" y="4500677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18514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712976" y="4500677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897380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887322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081784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66188" y="4500677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256130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450592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440534" y="4297680"/>
            <a:ext cx="20117" cy="20756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2634996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2819400" y="4297680"/>
            <a:ext cx="188976" cy="7132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6684" y="3863340"/>
            <a:ext cx="219456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24428" y="297180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6E7EE"/>
          </a:solidFill>
          <a:ln/>
        </p:spPr>
      </p:sp>
      <p:sp>
        <p:nvSpPr>
          <p:cNvPr id="38" name="Text 36"/>
          <p:cNvSpPr/>
          <p:nvPr/>
        </p:nvSpPr>
        <p:spPr>
          <a:xfrm>
            <a:off x="3589020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SymbiYosys run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589020" y="34290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SYM=1 frees all 32 words;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BMC / cover searches cycles × programs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984748" y="3863340"/>
            <a:ext cx="219456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22492" y="297180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6E7EE"/>
          </a:solidFill>
          <a:ln/>
        </p:spPr>
      </p:sp>
      <p:sp>
        <p:nvSpPr>
          <p:cNvPr id="42" name="Text 40"/>
          <p:cNvSpPr/>
          <p:nvPr/>
        </p:nvSpPr>
        <p:spPr>
          <a:xfrm>
            <a:off x="6387084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program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387084" y="34290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16-bit words, canonicalized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disassembled back to .pio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782812" y="3863340"/>
            <a:ext cx="219456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020556" y="297180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EDF8F2"/>
          </a:solidFill>
          <a:ln/>
        </p:spPr>
      </p:sp>
      <p:sp>
        <p:nvSpPr>
          <p:cNvPr id="46" name="Shape 44"/>
          <p:cNvSpPr/>
          <p:nvPr/>
        </p:nvSpPr>
        <p:spPr>
          <a:xfrm>
            <a:off x="9020556" y="2971800"/>
            <a:ext cx="2542032" cy="1783080"/>
          </a:xfrm>
          <a:prstGeom prst="roundRect">
            <a:avLst>
              <a:gd name="adj" fmla="val 3077"/>
            </a:avLst>
          </a:prstGeom>
          <a:ln w="19050">
            <a:solidFill>
              <a:srgbClr val="0FA3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5148" y="3099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Re-verified ×3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9185148" y="34290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replay · generated iverilog TB ·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formal conformance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51389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landed as C16 · make synth — cover/BMC only: free words make the state space the program space (SPEC-16-3)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had to be formal-verification friendly for this to work — which is why vibe-pio exists.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Spec-first, red/green, reproducible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not vibes — </a:t>
            </a:r>
            <a:pPr indent="0" marL="0">
              <a:buNone/>
            </a:pPr>
            <a:r>
              <a:rPr lang="en-US" sz="14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load-bearing datasheet behaviour has a stable ID: 237 SPEC-x.y-n facts, 40 cycle-contract clauses (CC-n). RTL comments, assertions and tests cite them; the spec is never prose.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04872"/>
            <a:ext cx="67208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Red/green TDD — </a:t>
            </a:r>
            <a:pPr indent="0" marL="0">
              <a:buNone/>
            </a:pPr>
            <a:r>
              <a:rPr lang="en-US" sz="14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a formal property uncovers gets a directed sim regression in the same commit — demonstrated red against the re-injected defect, then green. A check that has only ever passed may be vacuous.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67208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container — </a:t>
            </a:r>
            <a:pPr indent="0" marL="0">
              <a:buNone/>
            </a:pPr>
            <a:r>
              <a:rPr lang="en-US" sz="14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iverilog, yosys, sby + z3 / boolector / yices pinned in one image; every gate is a make target; runtime scripts stay stdlib-only.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67208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grilling — </a:t>
            </a:r>
            <a:pPr indent="0" marL="0">
              <a:buNone/>
            </a:pPr>
            <a:r>
              <a:rPr lang="en-US" sz="14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work only on the board; loose ideas live in IDEAS.md and are promoted only after a grilling session; every commit records which agent did the work.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1417320"/>
            <a:ext cx="4279392" cy="4224528"/>
          </a:xfrm>
          <a:prstGeom prst="roundRect">
            <a:avLst>
              <a:gd name="adj" fmla="val 1299"/>
            </a:avLst>
          </a:prstGeom>
          <a:solidFill>
            <a:srgbClr val="F6E7EE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6002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CITATION READS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1938528"/>
            <a:ext cx="382219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103120"/>
            <a:ext cx="35478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SPEC-3.4-11: autopull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stall at cycle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(!rst) assert(...);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property (...)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##[...] $info("CC-7");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4023360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assertion citing no fact is unsourced; a fact with no assertion is unverified. tools/trace_audit.py audits both directions (make audit).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pio_block: one block, built and proven bottom-up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3063240" y="1371600"/>
            <a:ext cx="8193024" cy="658368"/>
          </a:xfrm>
          <a:prstGeom prst="roundRect">
            <a:avLst>
              <a:gd name="adj" fmla="val 8333"/>
            </a:avLst>
          </a:prstGeom>
          <a:solidFill>
            <a:srgbClr val="F6E7EE"/>
          </a:solidFill>
          <a:ln w="12700">
            <a:solidFill>
              <a:srgbClr val="A6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371600"/>
            <a:ext cx="8193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pio_instr_mem — 32×16, 1W / 4R async read  </a:t>
            </a:r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(write visible to next fetch, CC-33)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063240" y="2606040"/>
            <a:ext cx="1828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A62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697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u_sm0 : pio_sm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0083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 · decode · exec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shifters · FIFOs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2048256"/>
            <a:ext cx="0" cy="539496"/>
          </a:xfrm>
          <a:prstGeom prst="line">
            <a:avLst/>
          </a:prstGeom>
          <a:noFill/>
          <a:ln w="19050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84648" y="2606040"/>
            <a:ext cx="1828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A62E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697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u_sm1 : pio_sm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30083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 · decode · exec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shifters · FIFOs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9048" y="2048256"/>
            <a:ext cx="0" cy="539496"/>
          </a:xfrm>
          <a:prstGeom prst="line">
            <a:avLst/>
          </a:prstGeom>
          <a:noFill/>
          <a:ln w="19050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06056" y="2606040"/>
            <a:ext cx="1828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A62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2697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u_sm2 : pio_sm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06056" y="30083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 · decode · exec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shifters · FIFOs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0456" y="2048256"/>
            <a:ext cx="0" cy="539496"/>
          </a:xfrm>
          <a:prstGeom prst="line">
            <a:avLst/>
          </a:prstGeom>
          <a:noFill/>
          <a:ln w="19050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27464" y="2606040"/>
            <a:ext cx="1828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A62E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27464" y="2697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u_sm3 : pio_sm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27464" y="30083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 · decode · exec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shifters · FIFOs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41864" y="2048256"/>
            <a:ext cx="0" cy="539496"/>
          </a:xfrm>
          <a:prstGeom prst="line">
            <a:avLst/>
          </a:prstGeom>
          <a:noFill/>
          <a:ln w="19050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46520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instr[15:0] @ pc_r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2606040"/>
            <a:ext cx="20116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6E66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97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bus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299008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9-bit 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… INSTR_MEM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one-clk retire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2468880" y="1700784"/>
            <a:ext cx="576072" cy="128016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2926080"/>
            <a:ext cx="576072" cy="0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5720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imem writes · per-SM 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W1C / force · TXF / RXF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63240" y="425196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6E66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4251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pio_irq_flags  </a:t>
            </a:r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flags · PREV/NEXT/REL (CC-37)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49440" y="425196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6E66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4251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pio_gpio_mux  </a:t>
            </a:r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2-FF sync · rotate · priority (CC-7)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625328" y="4640580"/>
            <a:ext cx="438912" cy="0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1082528" y="432511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gpio_out / oe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977640" y="3831336"/>
            <a:ext cx="0" cy="402336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6099048" y="3831336"/>
            <a:ext cx="0" cy="402336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220456" y="3831336"/>
            <a:ext cx="548640" cy="402336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 flipV="1">
            <a:off x="9793224" y="3831336"/>
            <a:ext cx="548640" cy="402336"/>
          </a:xfrm>
          <a:prstGeom prst="line">
            <a:avLst/>
          </a:prstGeom>
          <a:noFill/>
          <a:ln w="15875">
            <a:solidFill>
              <a:srgbClr val="6E6675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108960" y="38679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irq_req / clr  ·  flags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63840" y="38679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writes  ·  in_bus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53218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modules · 4,101 lines SV · built C1→C10, each with its own TB + sby proof before integration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monitors live in rtl/ — one tree for sim · formal · synth · pio_top (3 blocks + relay) designed, not yet built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days, seventeen cards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0" y="2148840"/>
            <a:ext cx="6094476" cy="3566160"/>
          </a:xfrm>
          <a:prstGeom prst="rect">
            <a:avLst>
              <a:gd name="adj" fmla="val 1538"/>
            </a:avLst>
          </a:prstGeom>
          <a:solidFill>
            <a:srgbClr val="F6E7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4476" y="2148840"/>
            <a:ext cx="6094476" cy="3566160"/>
          </a:xfrm>
          <a:prstGeom prst="rect">
            <a:avLst>
              <a:gd name="adj" fmla="val 1538"/>
            </a:avLst>
          </a:prstGeom>
          <a:solidFill>
            <a:srgbClr val="F1E9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860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BUILD THE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9924" y="22860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BUILD THE SYNTHESIZER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1810512"/>
            <a:ext cx="10543032" cy="0"/>
          </a:xfrm>
          <a:prstGeom prst="line">
            <a:avLst/>
          </a:prstGeom>
          <a:noFill/>
          <a:ln w="25400">
            <a:solidFill>
              <a:srgbClr val="D8C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359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08-23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6359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commits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4223" y="1728216"/>
            <a:ext cx="164592" cy="164592"/>
          </a:xfrm>
          <a:prstGeom prst="ellipse">
            <a:avLst/>
          </a:prstGeom>
          <a:solidFill>
            <a:srgbClr val="A62E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97480"/>
            <a:ext cx="231571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consolidation — datasheet + pioasm cross-verified against pico-sdk and pico-examples; toolchain container; RTL conventions; C0 sim + formal infra.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04997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08-24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04997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commits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02861" y="1728216"/>
            <a:ext cx="164592" cy="164592"/>
          </a:xfrm>
          <a:prstGeom prst="ellipse">
            <a:avLst/>
          </a:prstGeom>
          <a:solidFill>
            <a:srgbClr val="A62E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0158" y="2697480"/>
            <a:ext cx="231571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C1→C10 RTL, bottom-up: FIFOs, shifters, decoder, regs + divider, IRQ, GPIO mux, exec core, SM, block. Conformance: 20 pico-examples programs; UART loopback at fractional clkdiv.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23635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08-25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23635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commits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21499" y="1728216"/>
            <a:ext cx="164592" cy="164592"/>
          </a:xfrm>
          <a:prstGeom prst="ellipse">
            <a:avLst/>
          </a:prstGeom>
          <a:solidFill>
            <a:srgbClr val="A62E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8796" y="2697480"/>
            <a:ext cx="231571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quality gate (uv · ruff · ty · pytest). C11 trace-equivalence miter; C12 golden model + assembler / disassembler. Hyperopt track grilled into KANBAN.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042273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08-26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42273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commits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40137" y="1728216"/>
            <a:ext cx="164592" cy="164592"/>
          </a:xfrm>
          <a:prstGeom prst="ellipse">
            <a:avLst/>
          </a:prstGeom>
          <a:solidFill>
            <a:srgbClr val="0FA3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7434" y="2697480"/>
            <a:ext cx="231571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C13 equivalence oracle; C14 hyperoptimizer (Pareto size × speed); C15 conformance monitors; C16 synthesis harness + witness pipeline.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589788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 log @ 4f1eaef — 40 commits, 2026-08-23 → 2026-08-26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a make target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57200" y="139903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1399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3716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iverilog testbenches per module + block + conformance — the fast gate every fix keeps green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1874520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56816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19568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syn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19293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yosys elaboration / hierarchy check per module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2432304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1460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2514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formal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24871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sby per module: BMC + k-induction (prove) + cover — assertions cite the SPEC-/CC- facts they verify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2990088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723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" y="30723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04495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golden model: cycle-accurate trace differential vs RTL; assembler bit-equal to pioasm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3016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equiv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360273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program-pair equivalence oracle — model pre-filter, miter, sby verdict, replayed counterexamples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4105656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8795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41879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hyperopt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41605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search → Pareto front (imem words × ticks per loop); winners certified via equiv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745736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6E7EE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" y="47457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1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synth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51760" y="47183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imem cover → witness program, canonicalized and re-verified three independent ways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57200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457200" y="5833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assertions, rtl + formal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19272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3319272" y="5833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sby task files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6181344" y="5833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tests + doctests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043416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9043416" y="58338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pico-examples programs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63840" y="583387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repo metrics @ 4f1eaef (grep / wc / ls)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REAL WORLD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silicon behaviour, not just self-consistency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 against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sources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assembled from the RP2350 datasheet and pioasm, cross-verified against pico-sdk and pico-examples; every fact pinned with a stable ID.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53492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examples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official pico-examples PIO programs run unchanged on pio_block in sim.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61688"/>
            <a:ext cx="53492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262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corners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loopback at the realistic fractional clkdiv (CF17); divider-invariance sweeps over the whole program matrix.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machinery caught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82512" y="17830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“tick divergence”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mismatch traced to a testbench wrap-constant defect; RTL exonerated after divider-invariance runs falsified the sync-margin theory first.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82512" y="2990088"/>
            <a:ext cx="53492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1546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Golden-model transcription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 caught: the FIFO-mode sampler must register the pre-edge mode; bus-decoded PUTGET index ≠ instruction aux index (SPEC-7-13 vs 3.7-4).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82512" y="4361688"/>
            <a:ext cx="5349240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52628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drive discipline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posedge-driving TB variant silently dropped bus writes; negedge-drive is now the mandated idiom.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findings get sim regressions — every bug above is re-checked red/green in the module testbench, in the fixing commit.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MOONSHOT TRACK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C11 → C16: from equivalence to synthesis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F6E7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154533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A62E5C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15453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154533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Trace-equivalence miter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3504" y="19659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“same behaviour” means: observable contract over pins + FIFOs, then a miter — SPEC-16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023360" y="2263140"/>
            <a:ext cx="283464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25112" y="1417320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F6E7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1416" y="154533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A62E5C"/>
          </a:solidFill>
          <a:ln/>
        </p:spPr>
      </p:sp>
      <p:sp>
        <p:nvSpPr>
          <p:cNvPr id="22" name="Text 20"/>
          <p:cNvSpPr/>
          <p:nvPr/>
        </p:nvSpPr>
        <p:spPr>
          <a:xfrm>
            <a:off x="4471416" y="15453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48072" y="154533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model + asm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71416" y="19659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cycle-accurate Python model; .pio assembler bit-equal to pioasm; disassembler — drives the search cheaply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91272" y="2263140"/>
            <a:ext cx="283464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93024" y="1417320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F6E7EE"/>
          </a:solidFill>
          <a:ln/>
        </p:spPr>
      </p:sp>
      <p:sp>
        <p:nvSpPr>
          <p:cNvPr id="27" name="Shape 25"/>
          <p:cNvSpPr/>
          <p:nvPr/>
        </p:nvSpPr>
        <p:spPr>
          <a:xfrm>
            <a:off x="8339328" y="154533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A62E5C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15453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15984" y="154533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 oracle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39328" y="19659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equiv: model pre-filter → miter → sby verdict; counterexamples decoded and replay-verified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3538728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F6E7E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3504" y="366674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A62E5C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" y="36667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366674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Hyperoptimizer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03504" y="408736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catalog searched to peephole closure; Pareto (imem words × ticks per loop); winners certified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023360" y="4384548"/>
            <a:ext cx="283464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25112" y="3538728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F6E7EE"/>
          </a:solidFill>
          <a:ln/>
        </p:spPr>
      </p:sp>
      <p:sp>
        <p:nvSpPr>
          <p:cNvPr id="38" name="Shape 36"/>
          <p:cNvSpPr/>
          <p:nvPr/>
        </p:nvSpPr>
        <p:spPr>
          <a:xfrm>
            <a:off x="4471416" y="366674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A62E5C"/>
          </a:solidFill>
          <a:ln/>
        </p:spPr>
      </p:sp>
      <p:sp>
        <p:nvSpPr>
          <p:cNvPr id="39" name="Text 37"/>
          <p:cNvSpPr/>
          <p:nvPr/>
        </p:nvSpPr>
        <p:spPr>
          <a:xfrm>
            <a:off x="4471416" y="36667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48072" y="366674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monitors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471416" y="408736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UART-TX frame + square-wave checkers over gpio_out — the spec-equality predicate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91272" y="4384548"/>
            <a:ext cx="283464" cy="0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193024" y="3538728"/>
            <a:ext cx="3547872" cy="1691640"/>
          </a:xfrm>
          <a:prstGeom prst="roundRect">
            <a:avLst>
              <a:gd name="adj" fmla="val 3243"/>
            </a:avLst>
          </a:prstGeom>
          <a:solidFill>
            <a:srgbClr val="EDF8F2"/>
          </a:solidFill>
          <a:ln/>
        </p:spPr>
      </p:sp>
      <p:sp>
        <p:nvSpPr>
          <p:cNvPr id="44" name="Shape 42"/>
          <p:cNvSpPr/>
          <p:nvPr/>
        </p:nvSpPr>
        <p:spPr>
          <a:xfrm>
            <a:off x="8193024" y="3538728"/>
            <a:ext cx="3547872" cy="1691640"/>
          </a:xfrm>
          <a:prstGeom prst="roundRect">
            <a:avLst>
              <a:gd name="adj" fmla="val 3243"/>
            </a:avLst>
          </a:prstGeom>
          <a:ln w="19050">
            <a:solidFill>
              <a:srgbClr val="0FA3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9328" y="366674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FA36B"/>
          </a:solidFill>
          <a:ln/>
        </p:spPr>
      </p:sp>
      <p:sp>
        <p:nvSpPr>
          <p:cNvPr id="46" name="Text 44"/>
          <p:cNvSpPr/>
          <p:nvPr/>
        </p:nvSpPr>
        <p:spPr>
          <a:xfrm>
            <a:off x="8339328" y="36667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015984" y="366674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harness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339328" y="408736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 imem + monitor cover goals; witness canonicalized, disassembled, re-verified three ways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truth: the model and the monitors are shared by sim, formal, hyperopt and synth — the referee is never a fork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in, program out — then prove it again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6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5389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trace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171907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sby returns a trace reaching the monitor’s done state, with imem free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64408" y="2194560"/>
            <a:ext cx="0" cy="146304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359152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6E7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4144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06624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nop-fills and delay-preserving parks — one canonical program per witness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64408" y="3182112"/>
            <a:ext cx="0" cy="146304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346704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6E7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290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Disassembly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94176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words → .pio source via the C12 disassembler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64408" y="4169664"/>
            <a:ext cx="0" cy="146304"/>
          </a:xfrm>
          <a:prstGeom prst="line">
            <a:avLst/>
          </a:prstGeom>
          <a:noFill/>
          <a:ln w="22225">
            <a:solidFill>
              <a:srgbClr val="A62E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4334256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EDF8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334256"/>
            <a:ext cx="5623560" cy="804672"/>
          </a:xfrm>
          <a:prstGeom prst="roundRect">
            <a:avLst>
              <a:gd name="adj" fmla="val 6818"/>
            </a:avLst>
          </a:prstGeom>
          <a:ln w="19050">
            <a:solidFill>
              <a:srgbClr val="0FA3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1655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Three-legged re-verify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681728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C12 model replay + window check · generated iverilog TB · bounded formal conformance of the loaded witness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1371600"/>
            <a:ext cx="52852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3DD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51790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SQUARE WAVE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7039356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7449312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5" name="Shape 33"/>
          <p:cNvSpPr/>
          <p:nvPr/>
        </p:nvSpPr>
        <p:spPr>
          <a:xfrm>
            <a:off x="7859268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7849210" y="1874520"/>
            <a:ext cx="20117" cy="37673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69224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79180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9089136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9079078" y="1874520"/>
            <a:ext cx="20117" cy="37673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9499092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9909048" y="1874520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19004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08946" y="1874520"/>
            <a:ext cx="20117" cy="376733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28960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38916" y="2246681"/>
            <a:ext cx="414528" cy="130759"/>
          </a:xfrm>
          <a:prstGeom prst="rect">
            <a:avLst/>
          </a:prstGeom>
          <a:solidFill>
            <a:srgbClr val="A62E5C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254203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half-period inside the CC-26 divider window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46520" y="3127248"/>
            <a:ext cx="528523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DD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32735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UART-TX FRAME, ONE BYTE (8N1, 0xB2)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629400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1" name="Shape 49"/>
          <p:cNvSpPr/>
          <p:nvPr/>
        </p:nvSpPr>
        <p:spPr>
          <a:xfrm>
            <a:off x="7039356" y="4108216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2" name="Shape 50"/>
          <p:cNvSpPr/>
          <p:nvPr/>
        </p:nvSpPr>
        <p:spPr>
          <a:xfrm>
            <a:off x="7029298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3" name="Shape 51"/>
          <p:cNvSpPr/>
          <p:nvPr/>
        </p:nvSpPr>
        <p:spPr>
          <a:xfrm>
            <a:off x="7449312" y="4108216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4" name="Shape 52"/>
          <p:cNvSpPr/>
          <p:nvPr/>
        </p:nvSpPr>
        <p:spPr>
          <a:xfrm>
            <a:off x="7859268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5" name="Shape 53"/>
          <p:cNvSpPr/>
          <p:nvPr/>
        </p:nvSpPr>
        <p:spPr>
          <a:xfrm>
            <a:off x="7849210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6" name="Shape 54"/>
          <p:cNvSpPr/>
          <p:nvPr/>
        </p:nvSpPr>
        <p:spPr>
          <a:xfrm>
            <a:off x="8269224" y="4108216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7" name="Shape 55"/>
          <p:cNvSpPr/>
          <p:nvPr/>
        </p:nvSpPr>
        <p:spPr>
          <a:xfrm>
            <a:off x="8259166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8" name="Shape 56"/>
          <p:cNvSpPr/>
          <p:nvPr/>
        </p:nvSpPr>
        <p:spPr>
          <a:xfrm>
            <a:off x="8679180" y="4108216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59" name="Shape 57"/>
          <p:cNvSpPr/>
          <p:nvPr/>
        </p:nvSpPr>
        <p:spPr>
          <a:xfrm>
            <a:off x="9089136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0" name="Shape 58"/>
          <p:cNvSpPr/>
          <p:nvPr/>
        </p:nvSpPr>
        <p:spPr>
          <a:xfrm>
            <a:off x="9079078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1" name="Shape 59"/>
          <p:cNvSpPr/>
          <p:nvPr/>
        </p:nvSpPr>
        <p:spPr>
          <a:xfrm>
            <a:off x="9499092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2" name="Shape 60"/>
          <p:cNvSpPr/>
          <p:nvPr/>
        </p:nvSpPr>
        <p:spPr>
          <a:xfrm>
            <a:off x="9909048" y="4108216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3" name="Shape 61"/>
          <p:cNvSpPr/>
          <p:nvPr/>
        </p:nvSpPr>
        <p:spPr>
          <a:xfrm>
            <a:off x="9898990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19004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5" name="Shape 63"/>
          <p:cNvSpPr/>
          <p:nvPr/>
        </p:nvSpPr>
        <p:spPr>
          <a:xfrm>
            <a:off x="10308946" y="3621024"/>
            <a:ext cx="20117" cy="491764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28960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7" name="Shape 65"/>
          <p:cNvSpPr/>
          <p:nvPr/>
        </p:nvSpPr>
        <p:spPr>
          <a:xfrm>
            <a:off x="11138916" y="3621024"/>
            <a:ext cx="414528" cy="171176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68" name="Text 66"/>
          <p:cNvSpPr/>
          <p:nvPr/>
        </p:nvSpPr>
        <p:spPr>
          <a:xfrm>
            <a:off x="6629400" y="4443984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· start · 8 data bits LSB-first · stop — decoded by pio_mon_uart_tx (illustrative waveform)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57200" y="53035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6E7EE"/>
          </a:solidFill>
          <a:ln/>
        </p:spPr>
      </p:sp>
      <p:sp>
        <p:nvSpPr>
          <p:cNvPr id="70" name="Shape 68"/>
          <p:cNvSpPr/>
          <p:nvPr/>
        </p:nvSpPr>
        <p:spPr>
          <a:xfrm>
            <a:off x="603504" y="5468112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A62E5C"/>
          </a:solidFill>
          <a:ln/>
        </p:spPr>
      </p:sp>
      <p:sp>
        <p:nvSpPr>
          <p:cNvPr id="71" name="Text 69"/>
          <p:cNvSpPr/>
          <p:nvPr/>
        </p:nvSpPr>
        <p:spPr>
          <a:xfrm>
            <a:off x="603504" y="546811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control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920240" y="5303520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contradictory spec returns UNSAT — proving the cover goals genuinely bind the solver, not just the seed program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 today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4160520" cy="4434840"/>
          </a:xfrm>
          <a:prstGeom prst="roundRect">
            <a:avLst>
              <a:gd name="adj" fmla="val 1319"/>
            </a:avLst>
          </a:prstGeom>
          <a:solidFill>
            <a:srgbClr val="F6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554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open on the kanban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C0–C16 done · board empty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work is a choice, not a debt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858768"/>
            <a:ext cx="100584" cy="10058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7581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per-module BMC + k-induction green (synth runs are cover/BMC by design)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100584" cy="10058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37997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matrix green: 20 pico-examples programs + uart loopback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5102352"/>
            <a:ext cx="100584" cy="10058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500176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golden-model differential green; assembler bit-equal to pioasm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v1 limits — deliberate scoping, all on the record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029200" y="1783080"/>
            <a:ext cx="6702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Single-SM model scope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model + equivalence oracle run SM0 live (SPEC-16-4); multi-SM is the next model horizon.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2551176"/>
            <a:ext cx="6702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33472"/>
            <a:ext cx="6702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Spec-only rewrites uncertified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side-set fusion and autopull overlay are catalogued and regression-cased, but the oracle’s spec-eq wiring is future work.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3401568"/>
            <a:ext cx="6702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483864"/>
            <a:ext cx="6702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 composition partial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 exported; INTE/INTF/INTS stay stubs; NEXTPREV fan-out and GPIOBASE windowing belong to pio_top (designed, unbuilt).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4251960"/>
            <a:ext cx="6702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334256"/>
            <a:ext cx="6702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Unpinned microsemantics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EXECCTRL.OUT_EN_SEL / INLINE_OUT_EN: docs carry one-liners only; blocked on silicon-level depth (IDEAS).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5102352"/>
            <a:ext cx="6702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5184648"/>
            <a:ext cx="6702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latency pinned in FV only —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checks are shift-invariant by design; absolute input latency needs the formal CC-23 properties.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62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could go next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11274552" cy="2057400"/>
          </a:xfrm>
          <a:prstGeom prst="roundRect">
            <a:avLst>
              <a:gd name="adj" fmla="val 2667"/>
            </a:avLst>
          </a:prstGeom>
          <a:solidFill>
            <a:srgbClr val="F6E7E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15727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A62E5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FRONT-RUNNER · GRILLED ×2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19933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TIS-100-style competitive PIO game, over SSH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" y="2340864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are receiver-style conformance monitors (the C15 machinery): a lenient UART sink decodes bytes and shrugs at framing errors — acceptance is “the receiver got the right data”, never golden-trace equality. </a:t>
            </a:r>
            <a:pPr indent="0" marL="0">
              <a:buNone/>
            </a:pPr>
            <a:r>
              <a:rPr lang="en-US" sz="1300" b="1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referee is tools/pio_model imported, never forked; the stored program is the object code itself. </a:t>
            </a:r>
            <a:pPr indent="0" marL="0">
              <a:buNone/>
            </a:pPr>
            <a:r>
              <a:rPr lang="en-US" sz="130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 before any of it: a legible live SM view — pc / x / y / isr / osr, FIFO levels, pin waveform strip, single-step. “If that cannot be made fun, the game dies there.”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result cache — </a:t>
            </a:r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[script + files + toolchain] and reuse PASS verdicts; motivated by 20-minute z3 walls that dead-memory pruning later cut to seconds.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233672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06824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gate — </a:t>
            </a:r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iCE40 / ECP5 via yosys + nextpnr: a real-world synthesis check beyond the yosys elaboration pass.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837176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032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Hardware-in-the-loop — </a:t>
            </a:r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property-based differential testing against actual RP2350 silicon via a capture rig (long-term).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74552" cy="0"/>
          </a:xfrm>
          <a:prstGeom prst="line">
            <a:avLst/>
          </a:prstGeom>
          <a:noFill/>
          <a:ln w="12700">
            <a:solidFill>
              <a:srgbClr val="E3D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13832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1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v1 gaps — </a:t>
            </a:r>
            <a:pPr indent="0" marL="0">
              <a:buNone/>
            </a:pPr>
            <a:r>
              <a:rPr lang="en-US" sz="1350" dirty="0">
                <a:solidFill>
                  <a:srgbClr val="2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multi-SM golden model, spec-eq wiring for the hyperoptimizer, pio_top 3-block assembly.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14432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4" name="Shape 2"/>
          <p:cNvSpPr/>
          <p:nvPr/>
        </p:nvSpPr>
        <p:spPr>
          <a:xfrm>
            <a:off x="1044610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047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6" name="Shape 4"/>
          <p:cNvSpPr/>
          <p:nvPr/>
        </p:nvSpPr>
        <p:spPr>
          <a:xfrm>
            <a:off x="10577779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7" name="Shape 5"/>
          <p:cNvSpPr/>
          <p:nvPr/>
        </p:nvSpPr>
        <p:spPr>
          <a:xfrm>
            <a:off x="10567721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8" name="Shape 6"/>
          <p:cNvSpPr/>
          <p:nvPr/>
        </p:nvSpPr>
        <p:spPr>
          <a:xfrm>
            <a:off x="10709453" y="6551676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9" name="Shape 7"/>
          <p:cNvSpPr/>
          <p:nvPr/>
        </p:nvSpPr>
        <p:spPr>
          <a:xfrm>
            <a:off x="10841126" y="6647688"/>
            <a:ext cx="136246" cy="41148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1068" y="6551676"/>
            <a:ext cx="20117" cy="100584"/>
          </a:xfrm>
          <a:prstGeom prst="rect">
            <a:avLst/>
          </a:prstGeom>
          <a:solidFill>
            <a:srgbClr val="C9BFC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5952" y="64922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3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vibe-pio — project review · 2026-08-26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by construction.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3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proven against its spec. The optimizer’s rewrites are certified by an equivalence oracle. And now the synthesizer emits programs straight from behavioural specifications — every witness re-verified three independent ways.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0928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0869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4655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19" name="Shape 17"/>
          <p:cNvSpPr/>
          <p:nvPr/>
        </p:nvSpPr>
        <p:spPr>
          <a:xfrm>
            <a:off x="1574597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383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12110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02052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75838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39566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5" name="Shape 23"/>
          <p:cNvSpPr/>
          <p:nvPr/>
        </p:nvSpPr>
        <p:spPr>
          <a:xfrm>
            <a:off x="3829507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6" name="Shape 24"/>
          <p:cNvSpPr/>
          <p:nvPr/>
        </p:nvSpPr>
        <p:spPr>
          <a:xfrm>
            <a:off x="4403293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93235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8" name="Shape 26"/>
          <p:cNvSpPr/>
          <p:nvPr/>
        </p:nvSpPr>
        <p:spPr>
          <a:xfrm>
            <a:off x="4967021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56962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0" name="Shape 28"/>
          <p:cNvSpPr/>
          <p:nvPr/>
        </p:nvSpPr>
        <p:spPr>
          <a:xfrm>
            <a:off x="5530748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0690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3" name="Shape 31"/>
          <p:cNvSpPr/>
          <p:nvPr/>
        </p:nvSpPr>
        <p:spPr>
          <a:xfrm>
            <a:off x="6084418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8204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1931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6" name="Shape 34"/>
          <p:cNvSpPr/>
          <p:nvPr/>
        </p:nvSpPr>
        <p:spPr>
          <a:xfrm>
            <a:off x="7211873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5659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8" name="Shape 36"/>
          <p:cNvSpPr/>
          <p:nvPr/>
        </p:nvSpPr>
        <p:spPr>
          <a:xfrm>
            <a:off x="8349386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39" name="Shape 37"/>
          <p:cNvSpPr/>
          <p:nvPr/>
        </p:nvSpPr>
        <p:spPr>
          <a:xfrm>
            <a:off x="8339328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0" name="Shape 38"/>
          <p:cNvSpPr/>
          <p:nvPr/>
        </p:nvSpPr>
        <p:spPr>
          <a:xfrm>
            <a:off x="8913114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1" name="Shape 39"/>
          <p:cNvSpPr/>
          <p:nvPr/>
        </p:nvSpPr>
        <p:spPr>
          <a:xfrm>
            <a:off x="8903056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9476842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3" name="Shape 41"/>
          <p:cNvSpPr/>
          <p:nvPr/>
        </p:nvSpPr>
        <p:spPr>
          <a:xfrm>
            <a:off x="9466783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40569" y="4427525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30511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4297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94238" y="3886200"/>
            <a:ext cx="20117" cy="545897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8024" y="3886200"/>
            <a:ext cx="568300" cy="190195"/>
          </a:xfrm>
          <a:prstGeom prst="rect">
            <a:avLst/>
          </a:prstGeom>
          <a:solidFill>
            <a:srgbClr val="0FA36B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074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A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sim · make formal · make model · make equiv · make hyperopt · make synth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57200" y="55778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3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on the board: your pick — the game, the cache, the FPGA gate, or closing the v1 gaps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vibe-pio — project review</dc:title>
  <dc:subject>Formally verified RP2350 PIO engine + program synthesis</dc:subject>
  <dc:creator>vibe-pio</dc:creator>
  <cp:lastModifiedBy>vibe-pio</cp:lastModifiedBy>
  <cp:revision>1</cp:revision>
  <dcterms:created xsi:type="dcterms:W3CDTF">2026-08-26T15:18:32Z</dcterms:created>
  <dcterms:modified xsi:type="dcterms:W3CDTF">2026-08-26T15:18:32Z</dcterms:modified>
</cp:coreProperties>
</file>